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Droid Sans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Droid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Noto Sans CJK SC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fld id="{7DD0F0B8-F3AC-4CB3-A3BC-95C263DD8D8B}" type="slidenum"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2ECFF6-3B51-486B-808F-36F5D90B284E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3499AE-E1ED-4545-8F23-EAC5CBFAB148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DC2D81-49A3-4C5B-9419-5DBCC26E1BDB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5C6042-0C23-4538-A4BE-0F74D98F0BC6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2AD9C0-7135-4CB9-A610-E3A300B9B691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5BC185-F8BF-4812-B3CC-11A22CD2492D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04CA2D-75EC-44EA-8DB9-3D1890BD40E9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3B2AA6-8C42-4310-8BEE-549A4F2110A4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CFB692-26D9-400C-9D0B-151C9132865D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7D27D3-E27F-4AFE-9F6A-9FD247C41121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247D9E-46DB-430E-9616-7C582848CA89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61935F-075E-4B65-AED1-14BD3BB85D49}" type="slidenum">
              <a:rPr b="0" lang="en-US" sz="1200" strike="noStrike" u="none">
                <a:solidFill>
                  <a:schemeClr val="dk1"/>
                </a:solidFill>
                <a:uFillTx/>
                <a:latin typeface="Calibri"/>
                <a:ea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Droid Sans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Droid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"/>
          <p:cNvSpPr/>
          <p:nvPr/>
        </p:nvSpPr>
        <p:spPr>
          <a:xfrm>
            <a:off x="10332720" y="-731520"/>
            <a:ext cx="2925720" cy="2925720"/>
          </a:xfrm>
          <a:prstGeom prst="ellipse">
            <a:avLst/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" name="椭圆"/>
          <p:cNvSpPr/>
          <p:nvPr/>
        </p:nvSpPr>
        <p:spPr>
          <a:xfrm>
            <a:off x="11155680" y="5120640"/>
            <a:ext cx="2194200" cy="2194200"/>
          </a:xfrm>
          <a:prstGeom prst="ellipse">
            <a:avLst/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" name="椭圆"/>
          <p:cNvSpPr/>
          <p:nvPr/>
        </p:nvSpPr>
        <p:spPr>
          <a:xfrm>
            <a:off x="640080" y="5989320"/>
            <a:ext cx="82080" cy="8208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" name="椭圆"/>
          <p:cNvSpPr/>
          <p:nvPr/>
        </p:nvSpPr>
        <p:spPr>
          <a:xfrm>
            <a:off x="960120" y="5989320"/>
            <a:ext cx="82080" cy="8208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" name="椭圆"/>
          <p:cNvSpPr/>
          <p:nvPr/>
        </p:nvSpPr>
        <p:spPr>
          <a:xfrm>
            <a:off x="1280160" y="5989320"/>
            <a:ext cx="82080" cy="8208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" name="椭圆"/>
          <p:cNvSpPr/>
          <p:nvPr/>
        </p:nvSpPr>
        <p:spPr>
          <a:xfrm>
            <a:off x="1600200" y="5989320"/>
            <a:ext cx="82080" cy="8208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" name="椭圆"/>
          <p:cNvSpPr/>
          <p:nvPr/>
        </p:nvSpPr>
        <p:spPr>
          <a:xfrm>
            <a:off x="1920240" y="5989320"/>
            <a:ext cx="82080" cy="8208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15" name="图片" descr="/home/claude/iilm_logo.png"/>
          <p:cNvPicPr/>
          <p:nvPr/>
        </p:nvPicPr>
        <p:blipFill>
          <a:blip r:embed="rId1"/>
          <a:stretch/>
        </p:blipFill>
        <p:spPr>
          <a:xfrm>
            <a:off x="640080" y="502920"/>
            <a:ext cx="776880" cy="8226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6" name="矩形"/>
          <p:cNvSpPr/>
          <p:nvPr/>
        </p:nvSpPr>
        <p:spPr>
          <a:xfrm>
            <a:off x="1554480" y="548640"/>
            <a:ext cx="731484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99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IILM UNIVERSITY, GREATER NOIDA</a:t>
            </a:r>
            <a:endParaRPr b="0" lang="en-US" sz="1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" name="矩形"/>
          <p:cNvSpPr/>
          <p:nvPr/>
        </p:nvSpPr>
        <p:spPr>
          <a:xfrm>
            <a:off x="1554480" y="868680"/>
            <a:ext cx="7314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eb8d6"/>
                </a:solidFill>
                <a:uFillTx/>
                <a:latin typeface="Calibri"/>
                <a:ea typeface="Calibri"/>
              </a:rPr>
              <a:t>School of Computer Science and Engineering</a:t>
            </a:r>
            <a:endParaRPr b="0" lang="en-US" sz="12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" name="矩形"/>
          <p:cNvSpPr/>
          <p:nvPr/>
        </p:nvSpPr>
        <p:spPr>
          <a:xfrm>
            <a:off x="640080" y="2286000"/>
            <a:ext cx="10515240" cy="1737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Data Science Internship</a:t>
            </a:r>
            <a:endParaRPr b="0" lang="en-US" sz="4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at SkillCraft Technology</a:t>
            </a:r>
            <a:endParaRPr b="0" lang="en-US" sz="40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" name="矩形"/>
          <p:cNvSpPr/>
          <p:nvPr/>
        </p:nvSpPr>
        <p:spPr>
          <a:xfrm>
            <a:off x="658440" y="3794760"/>
            <a:ext cx="9600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Exploratory Data Analysis, Visualization &amp; Predictive Modelling using Python</a:t>
            </a:r>
            <a:endParaRPr b="0" lang="en-US" sz="16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" name="矩形"/>
          <p:cNvSpPr/>
          <p:nvPr/>
        </p:nvSpPr>
        <p:spPr>
          <a:xfrm>
            <a:off x="640080" y="5074920"/>
            <a:ext cx="26056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8c97c0"/>
                </a:solidFill>
                <a:uFillTx/>
                <a:latin typeface="Calibri"/>
                <a:ea typeface="Calibri"/>
              </a:rPr>
              <a:t>STUDENT</a:t>
            </a:r>
            <a:endParaRPr b="0" lang="en-US" sz="10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" name="矩形"/>
          <p:cNvSpPr/>
          <p:nvPr/>
        </p:nvSpPr>
        <p:spPr>
          <a:xfrm>
            <a:off x="640080" y="5349240"/>
            <a:ext cx="260568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Raj Vardhan</a:t>
            </a:r>
            <a:endParaRPr b="0" lang="en-US" sz="1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" name="矩形"/>
          <p:cNvSpPr/>
          <p:nvPr/>
        </p:nvSpPr>
        <p:spPr>
          <a:xfrm>
            <a:off x="3246120" y="5074920"/>
            <a:ext cx="26056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cbcb"/>
                </a:solidFill>
                <a:uFillTx/>
                <a:latin typeface="Calibri"/>
                <a:ea typeface="等线"/>
              </a:rPr>
              <a:t>ROLL NUMBER </a:t>
            </a:r>
            <a:endParaRPr b="0" lang="en-US" sz="10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" name="矩形"/>
          <p:cNvSpPr/>
          <p:nvPr/>
        </p:nvSpPr>
        <p:spPr>
          <a:xfrm>
            <a:off x="3246120" y="5349240"/>
            <a:ext cx="260568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等线"/>
              </a:rPr>
              <a:t>25SCS1003000502</a:t>
            </a:r>
            <a:endParaRPr b="1" lang="en-US" sz="1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" name="矩形"/>
          <p:cNvSpPr/>
          <p:nvPr/>
        </p:nvSpPr>
        <p:spPr>
          <a:xfrm>
            <a:off x="5852160" y="5074920"/>
            <a:ext cx="26056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8c97c0"/>
                </a:solidFill>
                <a:uFillTx/>
                <a:latin typeface="Calibri"/>
                <a:ea typeface="Calibri"/>
              </a:rPr>
              <a:t>PROGRAM &amp; SEMESTER</a:t>
            </a:r>
            <a:endParaRPr b="0" lang="en-US" sz="10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" name="矩形"/>
          <p:cNvSpPr/>
          <p:nvPr/>
        </p:nvSpPr>
        <p:spPr>
          <a:xfrm>
            <a:off x="5852160" y="5349240"/>
            <a:ext cx="260568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B.Tech CSE, 3rd Semester</a:t>
            </a:r>
            <a:endParaRPr b="0" lang="en-US" sz="1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" name="矩形"/>
          <p:cNvSpPr/>
          <p:nvPr/>
        </p:nvSpPr>
        <p:spPr>
          <a:xfrm>
            <a:off x="8458200" y="5074920"/>
            <a:ext cx="26056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8c97c0"/>
                </a:solidFill>
                <a:uFillTx/>
                <a:latin typeface="Calibri"/>
                <a:ea typeface="Calibri"/>
              </a:rPr>
              <a:t>ORGANIZATION</a:t>
            </a:r>
            <a:endParaRPr b="0" lang="en-US" sz="10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" name="矩形"/>
          <p:cNvSpPr/>
          <p:nvPr/>
        </p:nvSpPr>
        <p:spPr>
          <a:xfrm>
            <a:off x="8458200" y="5349240"/>
            <a:ext cx="260568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SkillCraft Technology</a:t>
            </a:r>
            <a:endParaRPr b="0" lang="en-US" sz="1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OVERVIEW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" name="矩形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Internship Snapshot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" name="圆角矩形"/>
          <p:cNvSpPr/>
          <p:nvPr/>
        </p:nvSpPr>
        <p:spPr>
          <a:xfrm>
            <a:off x="548640" y="1691640"/>
            <a:ext cx="26240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1" name="椭圆"/>
          <p:cNvSpPr/>
          <p:nvPr/>
        </p:nvSpPr>
        <p:spPr>
          <a:xfrm>
            <a:off x="777240" y="1920240"/>
            <a:ext cx="365400" cy="36540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2" name="矩形"/>
          <p:cNvSpPr/>
          <p:nvPr/>
        </p:nvSpPr>
        <p:spPr>
          <a:xfrm>
            <a:off x="777240" y="2450520"/>
            <a:ext cx="216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ROLE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3" name="矩形"/>
          <p:cNvSpPr/>
          <p:nvPr/>
        </p:nvSpPr>
        <p:spPr>
          <a:xfrm>
            <a:off x="777240" y="2697480"/>
            <a:ext cx="21668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Data Science Intern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4" name="圆角矩形"/>
          <p:cNvSpPr/>
          <p:nvPr/>
        </p:nvSpPr>
        <p:spPr>
          <a:xfrm>
            <a:off x="3291840" y="1691640"/>
            <a:ext cx="26240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5" name="椭圆"/>
          <p:cNvSpPr/>
          <p:nvPr/>
        </p:nvSpPr>
        <p:spPr>
          <a:xfrm>
            <a:off x="3520440" y="1920240"/>
            <a:ext cx="365400" cy="36540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6" name="矩形"/>
          <p:cNvSpPr/>
          <p:nvPr/>
        </p:nvSpPr>
        <p:spPr>
          <a:xfrm>
            <a:off x="3520440" y="2450520"/>
            <a:ext cx="216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DURATION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" name="矩形"/>
          <p:cNvSpPr/>
          <p:nvPr/>
        </p:nvSpPr>
        <p:spPr>
          <a:xfrm>
            <a:off x="3520440" y="2697480"/>
            <a:ext cx="21668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20 Jul 2026 – 20 Aug 2026 (1 Month)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" name="圆角矩形"/>
          <p:cNvSpPr/>
          <p:nvPr/>
        </p:nvSpPr>
        <p:spPr>
          <a:xfrm>
            <a:off x="6035040" y="1691640"/>
            <a:ext cx="26240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" name="椭圆"/>
          <p:cNvSpPr/>
          <p:nvPr/>
        </p:nvSpPr>
        <p:spPr>
          <a:xfrm>
            <a:off x="6263640" y="1920240"/>
            <a:ext cx="365400" cy="36540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0" name="矩形"/>
          <p:cNvSpPr/>
          <p:nvPr/>
        </p:nvSpPr>
        <p:spPr>
          <a:xfrm>
            <a:off x="6263640" y="2450520"/>
            <a:ext cx="216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MENTOR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" name="矩形"/>
          <p:cNvSpPr/>
          <p:nvPr/>
        </p:nvSpPr>
        <p:spPr>
          <a:xfrm>
            <a:off x="6263640" y="2697480"/>
            <a:ext cx="21668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Pranav Bansal, Tech Lead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2" name="圆角矩形"/>
          <p:cNvSpPr/>
          <p:nvPr/>
        </p:nvSpPr>
        <p:spPr>
          <a:xfrm>
            <a:off x="8778240" y="1691640"/>
            <a:ext cx="26240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" name="椭圆"/>
          <p:cNvSpPr/>
          <p:nvPr/>
        </p:nvSpPr>
        <p:spPr>
          <a:xfrm>
            <a:off x="9006840" y="1920240"/>
            <a:ext cx="365400" cy="36540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4" name="矩形"/>
          <p:cNvSpPr/>
          <p:nvPr/>
        </p:nvSpPr>
        <p:spPr>
          <a:xfrm>
            <a:off x="9006840" y="2450520"/>
            <a:ext cx="216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LOCATION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5" name="矩形"/>
          <p:cNvSpPr/>
          <p:nvPr/>
        </p:nvSpPr>
        <p:spPr>
          <a:xfrm>
            <a:off x="9006840" y="2697480"/>
            <a:ext cx="21668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Vashi, Navi Mumbai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6" name="矩形"/>
          <p:cNvSpPr/>
          <p:nvPr/>
        </p:nvSpPr>
        <p:spPr>
          <a:xfrm>
            <a:off x="548640" y="3520440"/>
            <a:ext cx="548604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About the Internship</a:t>
            </a:r>
            <a:endParaRPr b="0" lang="en-US" sz="17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7" name="矩形"/>
          <p:cNvSpPr/>
          <p:nvPr/>
        </p:nvSpPr>
        <p:spPr>
          <a:xfrm>
            <a:off x="548640" y="3931920"/>
            <a:ext cx="6491880" cy="2285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As part of the B.Tech CSE curriculum at IILM University, I completed a one-month Data Science internship at SkillCraft Technology. The program followed a task-based, mentorship-driven model, in which I worked through four progressively challenging real-world data problems covering visualization, exploratory data analysis, predictive modelling and applied analytics — building a practical, project-based portfolio using Python.</a:t>
            </a:r>
            <a:endParaRPr b="0" lang="en-US" sz="13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8" name="矩形"/>
          <p:cNvSpPr/>
          <p:nvPr/>
        </p:nvSpPr>
        <p:spPr>
          <a:xfrm>
            <a:off x="7406640" y="3520440"/>
            <a:ext cx="420588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FOUR CORE TASKS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9" name="圆角矩形"/>
          <p:cNvSpPr/>
          <p:nvPr/>
        </p:nvSpPr>
        <p:spPr>
          <a:xfrm>
            <a:off x="7406640" y="3886200"/>
            <a:ext cx="420588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0" name="矩形"/>
          <p:cNvSpPr/>
          <p:nvPr/>
        </p:nvSpPr>
        <p:spPr>
          <a:xfrm>
            <a:off x="7543800" y="3886200"/>
            <a:ext cx="45684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b8a6"/>
                </a:solidFill>
                <a:uFillTx/>
                <a:latin typeface="Cambria"/>
                <a:ea typeface="Cambria"/>
              </a:rPr>
              <a:t>01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1" name="矩形"/>
          <p:cNvSpPr/>
          <p:nvPr/>
        </p:nvSpPr>
        <p:spPr>
          <a:xfrm>
            <a:off x="8001000" y="3886200"/>
            <a:ext cx="352008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Population Distribution Visualization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2" name="圆角矩形"/>
          <p:cNvSpPr/>
          <p:nvPr/>
        </p:nvSpPr>
        <p:spPr>
          <a:xfrm>
            <a:off x="7406640" y="4553640"/>
            <a:ext cx="420588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3" name="矩形"/>
          <p:cNvSpPr/>
          <p:nvPr/>
        </p:nvSpPr>
        <p:spPr>
          <a:xfrm>
            <a:off x="7543800" y="4553640"/>
            <a:ext cx="45684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b8a6"/>
                </a:solidFill>
                <a:uFillTx/>
                <a:latin typeface="Cambria"/>
                <a:ea typeface="Cambria"/>
              </a:rPr>
              <a:t>02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4" name="矩形"/>
          <p:cNvSpPr/>
          <p:nvPr/>
        </p:nvSpPr>
        <p:spPr>
          <a:xfrm>
            <a:off x="8001000" y="4553640"/>
            <a:ext cx="352008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Titanic Dataset — Cleaning &amp; EDA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5" name="圆角矩形"/>
          <p:cNvSpPr/>
          <p:nvPr/>
        </p:nvSpPr>
        <p:spPr>
          <a:xfrm>
            <a:off x="7406640" y="5221080"/>
            <a:ext cx="420588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6" name="矩形"/>
          <p:cNvSpPr/>
          <p:nvPr/>
        </p:nvSpPr>
        <p:spPr>
          <a:xfrm>
            <a:off x="7543800" y="5221080"/>
            <a:ext cx="45684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b8a6"/>
                </a:solidFill>
                <a:uFillTx/>
                <a:latin typeface="Cambria"/>
                <a:ea typeface="Cambria"/>
              </a:rPr>
              <a:t>03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7" name="矩形"/>
          <p:cNvSpPr/>
          <p:nvPr/>
        </p:nvSpPr>
        <p:spPr>
          <a:xfrm>
            <a:off x="8001000" y="5221080"/>
            <a:ext cx="352008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Decision Tree Classifier — Bank Marketing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8" name="圆角矩形"/>
          <p:cNvSpPr/>
          <p:nvPr/>
        </p:nvSpPr>
        <p:spPr>
          <a:xfrm>
            <a:off x="7406640" y="5888880"/>
            <a:ext cx="420588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9" name="矩形"/>
          <p:cNvSpPr/>
          <p:nvPr/>
        </p:nvSpPr>
        <p:spPr>
          <a:xfrm>
            <a:off x="7543800" y="5888880"/>
            <a:ext cx="45684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fb8a6"/>
                </a:solidFill>
                <a:uFillTx/>
                <a:latin typeface="Cambria"/>
                <a:ea typeface="Cambria"/>
              </a:rPr>
              <a:t>04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0" name="矩形"/>
          <p:cNvSpPr/>
          <p:nvPr/>
        </p:nvSpPr>
        <p:spPr>
          <a:xfrm>
            <a:off x="8001000" y="5888880"/>
            <a:ext cx="352008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Traffic Accident Data Analysis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1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2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/>
          <p:nvPr/>
        </p:nvSpPr>
        <p:spPr>
          <a:xfrm>
            <a:off x="0" y="0"/>
            <a:ext cx="4205880" cy="6857640"/>
          </a:xfrm>
          <a:prstGeom prst="rect">
            <a:avLst/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63" name="图片" descr="/home/claude/skillcraft_logo_final3.png"/>
          <p:cNvPicPr/>
          <p:nvPr/>
        </p:nvPicPr>
        <p:blipFill>
          <a:blip r:embed="rId1"/>
          <a:stretch/>
        </p:blipFill>
        <p:spPr>
          <a:xfrm>
            <a:off x="640080" y="822960"/>
            <a:ext cx="2377080" cy="18558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4" name="矩形"/>
          <p:cNvSpPr/>
          <p:nvPr/>
        </p:nvSpPr>
        <p:spPr>
          <a:xfrm>
            <a:off x="640080" y="2926080"/>
            <a:ext cx="32914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SkillCraft Technology</a:t>
            </a:r>
            <a:endParaRPr b="0" lang="en-US" sz="2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5" name="矩形"/>
          <p:cNvSpPr/>
          <p:nvPr/>
        </p:nvSpPr>
        <p:spPr>
          <a:xfrm>
            <a:off x="640080" y="3520440"/>
            <a:ext cx="32914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aeb8d6"/>
                </a:solidFill>
                <a:uFillTx/>
                <a:latin typeface="Calibri"/>
                <a:ea typeface="Calibri"/>
              </a:rPr>
              <a:t>MSME-registered technology organization — Vashi, Navi Mumbai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6" name="矩形"/>
          <p:cNvSpPr/>
          <p:nvPr/>
        </p:nvSpPr>
        <p:spPr>
          <a:xfrm>
            <a:off x="640080" y="6126480"/>
            <a:ext cx="329148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skillcrafttech.com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7" name="矩形"/>
          <p:cNvSpPr/>
          <p:nvPr/>
        </p:nvSpPr>
        <p:spPr>
          <a:xfrm>
            <a:off x="4663440" y="502920"/>
            <a:ext cx="68576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ORGANIZATION PROFILE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8" name="矩形"/>
          <p:cNvSpPr/>
          <p:nvPr/>
        </p:nvSpPr>
        <p:spPr>
          <a:xfrm>
            <a:off x="4663440" y="777240"/>
            <a:ext cx="68576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Who is SkillCraft Technology?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9" name="矩形"/>
          <p:cNvSpPr/>
          <p:nvPr/>
        </p:nvSpPr>
        <p:spPr>
          <a:xfrm>
            <a:off x="4663440" y="1508760"/>
            <a:ext cx="6766200" cy="1279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SkillCraft Technology is a technology-driven organization offering structured, mentorship-based internship programs to students and early-career professionals in domains such as Data Science, Web Development and Software Engineering — with the goal of bridging the gap between academic learning and industry-relevant skills.</a:t>
            </a:r>
            <a:endParaRPr b="0" lang="en-US" sz="13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0" name="椭圆"/>
          <p:cNvSpPr/>
          <p:nvPr/>
        </p:nvSpPr>
        <p:spPr>
          <a:xfrm>
            <a:off x="4663440" y="3017520"/>
            <a:ext cx="292320" cy="29232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矩形"/>
          <p:cNvSpPr/>
          <p:nvPr/>
        </p:nvSpPr>
        <p:spPr>
          <a:xfrm>
            <a:off x="4663440" y="3017520"/>
            <a:ext cx="292320" cy="292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1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矩形"/>
          <p:cNvSpPr/>
          <p:nvPr/>
        </p:nvSpPr>
        <p:spPr>
          <a:xfrm>
            <a:off x="5120640" y="2953440"/>
            <a:ext cx="621756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Task-Based Learning Model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3" name="矩形"/>
          <p:cNvSpPr/>
          <p:nvPr/>
        </p:nvSpPr>
        <p:spPr>
          <a:xfrm>
            <a:off x="5120640" y="3264480"/>
            <a:ext cx="62175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Interns progress through a series of real-world tasks of increasing difficulty.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椭圆"/>
          <p:cNvSpPr/>
          <p:nvPr/>
        </p:nvSpPr>
        <p:spPr>
          <a:xfrm>
            <a:off x="4663440" y="3913560"/>
            <a:ext cx="292320" cy="29232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矩形"/>
          <p:cNvSpPr/>
          <p:nvPr/>
        </p:nvSpPr>
        <p:spPr>
          <a:xfrm>
            <a:off x="4663440" y="3913560"/>
            <a:ext cx="292320" cy="292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2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6" name="矩形"/>
          <p:cNvSpPr/>
          <p:nvPr/>
        </p:nvSpPr>
        <p:spPr>
          <a:xfrm>
            <a:off x="5120640" y="3849480"/>
            <a:ext cx="621756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Mentor-Led Guidance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矩形"/>
          <p:cNvSpPr/>
          <p:nvPr/>
        </p:nvSpPr>
        <p:spPr>
          <a:xfrm>
            <a:off x="5120640" y="4160520"/>
            <a:ext cx="62175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Every intern is supported by an experienced Tech Lead throughout the program.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8" name="椭圆"/>
          <p:cNvSpPr/>
          <p:nvPr/>
        </p:nvSpPr>
        <p:spPr>
          <a:xfrm>
            <a:off x="4663440" y="4809600"/>
            <a:ext cx="292320" cy="29232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矩形"/>
          <p:cNvSpPr/>
          <p:nvPr/>
        </p:nvSpPr>
        <p:spPr>
          <a:xfrm>
            <a:off x="4663440" y="4809600"/>
            <a:ext cx="292320" cy="292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3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0" name="矩形"/>
          <p:cNvSpPr/>
          <p:nvPr/>
        </p:nvSpPr>
        <p:spPr>
          <a:xfrm>
            <a:off x="5120640" y="4745880"/>
            <a:ext cx="621756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Industry-Aligned Datasets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1" name="矩形"/>
          <p:cNvSpPr/>
          <p:nvPr/>
        </p:nvSpPr>
        <p:spPr>
          <a:xfrm>
            <a:off x="5120640" y="5056560"/>
            <a:ext cx="62175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Tasks are built around publicly available, real-world datasets (Kaggle, UCI).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2" name="椭圆"/>
          <p:cNvSpPr/>
          <p:nvPr/>
        </p:nvSpPr>
        <p:spPr>
          <a:xfrm>
            <a:off x="4663440" y="5706000"/>
            <a:ext cx="292320" cy="29232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3" name="矩形"/>
          <p:cNvSpPr/>
          <p:nvPr/>
        </p:nvSpPr>
        <p:spPr>
          <a:xfrm>
            <a:off x="4663440" y="5706000"/>
            <a:ext cx="292320" cy="292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4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4" name="矩形"/>
          <p:cNvSpPr/>
          <p:nvPr/>
        </p:nvSpPr>
        <p:spPr>
          <a:xfrm>
            <a:off x="5120640" y="5641920"/>
            <a:ext cx="621756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0214b"/>
                </a:solidFill>
                <a:uFillTx/>
                <a:latin typeface="Calibri"/>
                <a:ea typeface="Calibri"/>
              </a:rPr>
              <a:t>Portfolio-Focused Outcome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5" name="矩形"/>
          <p:cNvSpPr/>
          <p:nvPr/>
        </p:nvSpPr>
        <p:spPr>
          <a:xfrm>
            <a:off x="5120640" y="5952600"/>
            <a:ext cx="62175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Interns leave with a practical, demonstrable project portfolio.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6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3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THE CHALLENGE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8" name="矩形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Problem Statement &amp; Objectives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9" name="圆角矩形"/>
          <p:cNvSpPr/>
          <p:nvPr/>
        </p:nvSpPr>
        <p:spPr>
          <a:xfrm>
            <a:off x="548640" y="1554480"/>
            <a:ext cx="5394600" cy="1965600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0" name="矩形"/>
          <p:cNvSpPr/>
          <p:nvPr/>
        </p:nvSpPr>
        <p:spPr>
          <a:xfrm>
            <a:off x="868680" y="1737360"/>
            <a:ext cx="484596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f0684e"/>
                </a:solidFill>
                <a:uFillTx/>
                <a:latin typeface="Calibri"/>
                <a:ea typeface="Calibri"/>
              </a:rPr>
              <a:t>PROBLEM STATEMENT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1" name="矩形"/>
          <p:cNvSpPr/>
          <p:nvPr/>
        </p:nvSpPr>
        <p:spPr>
          <a:xfrm>
            <a:off x="868680" y="2057400"/>
            <a:ext cx="4800240" cy="1371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Raw data rarely offers direct insight on its own — it must be cleaned, explored, visualized and, where applicable, modelled before it can support real decisions. This internship addressed four such real-world problems, spanning demographic visualization, survival analysis, customer-behaviour prediction and road-safety analytics.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2" name="矩形"/>
          <p:cNvSpPr/>
          <p:nvPr/>
        </p:nvSpPr>
        <p:spPr>
          <a:xfrm>
            <a:off x="548640" y="3794760"/>
            <a:ext cx="54860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OBJECTIVES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3" name="圆角矩形"/>
          <p:cNvSpPr/>
          <p:nvPr/>
        </p:nvSpPr>
        <p:spPr>
          <a:xfrm>
            <a:off x="548640" y="4160520"/>
            <a:ext cx="200880" cy="200880"/>
          </a:xfrm>
          <a:prstGeom prst="roundRect">
            <a:avLst>
              <a:gd name="adj" fmla="val 16666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4" name="矩形"/>
          <p:cNvSpPr/>
          <p:nvPr/>
        </p:nvSpPr>
        <p:spPr>
          <a:xfrm>
            <a:off x="914400" y="4050720"/>
            <a:ext cx="5028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Apply the complete data science workflow: collect, clean, explore, visualize, model.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5" name="圆角矩形"/>
          <p:cNvSpPr/>
          <p:nvPr/>
        </p:nvSpPr>
        <p:spPr>
          <a:xfrm>
            <a:off x="548640" y="4617720"/>
            <a:ext cx="200880" cy="200880"/>
          </a:xfrm>
          <a:prstGeom prst="roundRect">
            <a:avLst>
              <a:gd name="adj" fmla="val 16666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6" name="矩形"/>
          <p:cNvSpPr/>
          <p:nvPr/>
        </p:nvSpPr>
        <p:spPr>
          <a:xfrm>
            <a:off x="914400" y="4507920"/>
            <a:ext cx="5028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Build clear visualizations to communicate distributions and trends.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7" name="圆角矩形"/>
          <p:cNvSpPr/>
          <p:nvPr/>
        </p:nvSpPr>
        <p:spPr>
          <a:xfrm>
            <a:off x="548640" y="5074920"/>
            <a:ext cx="200880" cy="200880"/>
          </a:xfrm>
          <a:prstGeom prst="roundRect">
            <a:avLst>
              <a:gd name="adj" fmla="val 16666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8" name="矩形"/>
          <p:cNvSpPr/>
          <p:nvPr/>
        </p:nvSpPr>
        <p:spPr>
          <a:xfrm>
            <a:off x="914400" y="4965120"/>
            <a:ext cx="5028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Perform structured EDA to uncover relationships in real datasets.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9" name="圆角矩形"/>
          <p:cNvSpPr/>
          <p:nvPr/>
        </p:nvSpPr>
        <p:spPr>
          <a:xfrm>
            <a:off x="548640" y="5532120"/>
            <a:ext cx="200880" cy="200880"/>
          </a:xfrm>
          <a:prstGeom prst="roundRect">
            <a:avLst>
              <a:gd name="adj" fmla="val 16666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0" name="矩形"/>
          <p:cNvSpPr/>
          <p:nvPr/>
        </p:nvSpPr>
        <p:spPr>
          <a:xfrm>
            <a:off x="914400" y="5422320"/>
            <a:ext cx="5028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Build and evaluate a decision tree classification model.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1" name="圆角矩形"/>
          <p:cNvSpPr/>
          <p:nvPr/>
        </p:nvSpPr>
        <p:spPr>
          <a:xfrm>
            <a:off x="548640" y="5989320"/>
            <a:ext cx="200880" cy="200880"/>
          </a:xfrm>
          <a:prstGeom prst="roundRect">
            <a:avLst>
              <a:gd name="adj" fmla="val 16666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2" name="矩形"/>
          <p:cNvSpPr/>
          <p:nvPr/>
        </p:nvSpPr>
        <p:spPr>
          <a:xfrm>
            <a:off x="914400" y="5879520"/>
            <a:ext cx="5028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Translate raw accident data into actionable safety insights.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3" name="矩形"/>
          <p:cNvSpPr/>
          <p:nvPr/>
        </p:nvSpPr>
        <p:spPr>
          <a:xfrm>
            <a:off x="6400800" y="1554480"/>
            <a:ext cx="521172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PROJECT WORKFLOW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4" name="圆角矩形"/>
          <p:cNvSpPr/>
          <p:nvPr/>
        </p:nvSpPr>
        <p:spPr>
          <a:xfrm>
            <a:off x="6400800" y="196596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5" name="矩形"/>
          <p:cNvSpPr/>
          <p:nvPr/>
        </p:nvSpPr>
        <p:spPr>
          <a:xfrm>
            <a:off x="6537960" y="196596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1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6" name="矩形"/>
          <p:cNvSpPr/>
          <p:nvPr/>
        </p:nvSpPr>
        <p:spPr>
          <a:xfrm>
            <a:off x="6995160" y="196596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 Collection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7" name="等腰三角形"/>
          <p:cNvSpPr/>
          <p:nvPr/>
        </p:nvSpPr>
        <p:spPr>
          <a:xfrm rot="10800000">
            <a:off x="8852040" y="2533320"/>
            <a:ext cx="145800" cy="109440"/>
          </a:xfrm>
          <a:prstGeom prst="triangle">
            <a:avLst>
              <a:gd name="adj" fmla="val 50000"/>
            </a:avLst>
          </a:prstGeom>
          <a:solidFill>
            <a:srgbClr val="51597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8" name="圆角矩形"/>
          <p:cNvSpPr/>
          <p:nvPr/>
        </p:nvSpPr>
        <p:spPr>
          <a:xfrm>
            <a:off x="6400800" y="261504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9" name="矩形"/>
          <p:cNvSpPr/>
          <p:nvPr/>
        </p:nvSpPr>
        <p:spPr>
          <a:xfrm>
            <a:off x="6537960" y="261504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2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0" name="矩形"/>
          <p:cNvSpPr/>
          <p:nvPr/>
        </p:nvSpPr>
        <p:spPr>
          <a:xfrm>
            <a:off x="6995160" y="261504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Cleaning &amp; Preprocessing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1" name="等腰三角形"/>
          <p:cNvSpPr/>
          <p:nvPr/>
        </p:nvSpPr>
        <p:spPr>
          <a:xfrm rot="10800000">
            <a:off x="8852040" y="3182400"/>
            <a:ext cx="145800" cy="109440"/>
          </a:xfrm>
          <a:prstGeom prst="triangle">
            <a:avLst>
              <a:gd name="adj" fmla="val 50000"/>
            </a:avLst>
          </a:prstGeom>
          <a:solidFill>
            <a:srgbClr val="51597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2" name="圆角矩形"/>
          <p:cNvSpPr/>
          <p:nvPr/>
        </p:nvSpPr>
        <p:spPr>
          <a:xfrm>
            <a:off x="6400800" y="326448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3" name="矩形"/>
          <p:cNvSpPr/>
          <p:nvPr/>
        </p:nvSpPr>
        <p:spPr>
          <a:xfrm>
            <a:off x="6537960" y="326448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3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4" name="矩形"/>
          <p:cNvSpPr/>
          <p:nvPr/>
        </p:nvSpPr>
        <p:spPr>
          <a:xfrm>
            <a:off x="6995160" y="326448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Exploratory Analysis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5" name="等腰三角形"/>
          <p:cNvSpPr/>
          <p:nvPr/>
        </p:nvSpPr>
        <p:spPr>
          <a:xfrm rot="10800000">
            <a:off x="8852040" y="3831480"/>
            <a:ext cx="145800" cy="109440"/>
          </a:xfrm>
          <a:prstGeom prst="triangle">
            <a:avLst>
              <a:gd name="adj" fmla="val 50000"/>
            </a:avLst>
          </a:prstGeom>
          <a:solidFill>
            <a:srgbClr val="51597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6" name="圆角矩形"/>
          <p:cNvSpPr/>
          <p:nvPr/>
        </p:nvSpPr>
        <p:spPr>
          <a:xfrm>
            <a:off x="6400800" y="391356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7" name="矩形"/>
          <p:cNvSpPr/>
          <p:nvPr/>
        </p:nvSpPr>
        <p:spPr>
          <a:xfrm>
            <a:off x="6537960" y="391356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4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8" name="矩形"/>
          <p:cNvSpPr/>
          <p:nvPr/>
        </p:nvSpPr>
        <p:spPr>
          <a:xfrm>
            <a:off x="6995160" y="391356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Visualization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9" name="等腰三角形"/>
          <p:cNvSpPr/>
          <p:nvPr/>
        </p:nvSpPr>
        <p:spPr>
          <a:xfrm rot="10800000">
            <a:off x="8852040" y="4480920"/>
            <a:ext cx="145800" cy="109440"/>
          </a:xfrm>
          <a:prstGeom prst="triangle">
            <a:avLst>
              <a:gd name="adj" fmla="val 50000"/>
            </a:avLst>
          </a:prstGeom>
          <a:solidFill>
            <a:srgbClr val="51597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0" name="圆角矩形"/>
          <p:cNvSpPr/>
          <p:nvPr/>
        </p:nvSpPr>
        <p:spPr>
          <a:xfrm>
            <a:off x="6400800" y="456300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1" name="矩形"/>
          <p:cNvSpPr/>
          <p:nvPr/>
        </p:nvSpPr>
        <p:spPr>
          <a:xfrm>
            <a:off x="6537960" y="456300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5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2" name="矩形"/>
          <p:cNvSpPr/>
          <p:nvPr/>
        </p:nvSpPr>
        <p:spPr>
          <a:xfrm>
            <a:off x="6995160" y="456300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Modelling &amp; Evaluation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3" name="等腰三角形"/>
          <p:cNvSpPr/>
          <p:nvPr/>
        </p:nvSpPr>
        <p:spPr>
          <a:xfrm rot="10800000">
            <a:off x="8852040" y="5130000"/>
            <a:ext cx="145800" cy="109440"/>
          </a:xfrm>
          <a:prstGeom prst="triangle">
            <a:avLst>
              <a:gd name="adj" fmla="val 50000"/>
            </a:avLst>
          </a:prstGeom>
          <a:solidFill>
            <a:srgbClr val="51597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4" name="圆角矩形"/>
          <p:cNvSpPr/>
          <p:nvPr/>
        </p:nvSpPr>
        <p:spPr>
          <a:xfrm>
            <a:off x="6400800" y="5212080"/>
            <a:ext cx="5211720" cy="566640"/>
          </a:xfrm>
          <a:prstGeom prst="roundRect">
            <a:avLst>
              <a:gd name="adj" fmla="val 9675"/>
            </a:avLst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5" name="矩形"/>
          <p:cNvSpPr/>
          <p:nvPr/>
        </p:nvSpPr>
        <p:spPr>
          <a:xfrm>
            <a:off x="6537960" y="5212080"/>
            <a:ext cx="41112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4b740"/>
                </a:solidFill>
                <a:uFillTx/>
                <a:latin typeface="Cambria"/>
                <a:ea typeface="Cambria"/>
              </a:rPr>
              <a:t>6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6" name="矩形"/>
          <p:cNvSpPr/>
          <p:nvPr/>
        </p:nvSpPr>
        <p:spPr>
          <a:xfrm>
            <a:off x="6995160" y="5212080"/>
            <a:ext cx="4480200" cy="566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Insight Generation</a:t>
            </a:r>
            <a:endParaRPr b="0" lang="en-US" sz="12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7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4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TOOLKIT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9" name="矩形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Technologies &amp; Tools Used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0" name="圆角矩形"/>
          <p:cNvSpPr/>
          <p:nvPr/>
        </p:nvSpPr>
        <p:spPr>
          <a:xfrm>
            <a:off x="548640" y="169164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1" name="椭圆"/>
          <p:cNvSpPr/>
          <p:nvPr/>
        </p:nvSpPr>
        <p:spPr>
          <a:xfrm>
            <a:off x="804600" y="1947600"/>
            <a:ext cx="502560" cy="50256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2" name="矩形"/>
          <p:cNvSpPr/>
          <p:nvPr/>
        </p:nvSpPr>
        <p:spPr>
          <a:xfrm>
            <a:off x="804600" y="194760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3" name="矩形"/>
          <p:cNvSpPr/>
          <p:nvPr/>
        </p:nvSpPr>
        <p:spPr>
          <a:xfrm>
            <a:off x="804600" y="260604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Python 3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4" name="矩形"/>
          <p:cNvSpPr/>
          <p:nvPr/>
        </p:nvSpPr>
        <p:spPr>
          <a:xfrm>
            <a:off x="804600" y="301752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Core programming language for all tasks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5" name="圆角矩形"/>
          <p:cNvSpPr/>
          <p:nvPr/>
        </p:nvSpPr>
        <p:spPr>
          <a:xfrm>
            <a:off x="4325040" y="169164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6" name="椭圆"/>
          <p:cNvSpPr/>
          <p:nvPr/>
        </p:nvSpPr>
        <p:spPr>
          <a:xfrm>
            <a:off x="4581000" y="1947600"/>
            <a:ext cx="502560" cy="50256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7" name="矩形"/>
          <p:cNvSpPr/>
          <p:nvPr/>
        </p:nvSpPr>
        <p:spPr>
          <a:xfrm>
            <a:off x="4581000" y="194760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8" name="矩形"/>
          <p:cNvSpPr/>
          <p:nvPr/>
        </p:nvSpPr>
        <p:spPr>
          <a:xfrm>
            <a:off x="4581000" y="260604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Pandas &amp; NumPy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9" name="矩形"/>
          <p:cNvSpPr/>
          <p:nvPr/>
        </p:nvSpPr>
        <p:spPr>
          <a:xfrm>
            <a:off x="4581000" y="301752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Data loading, cleaning &amp; transformation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0" name="圆角矩形"/>
          <p:cNvSpPr/>
          <p:nvPr/>
        </p:nvSpPr>
        <p:spPr>
          <a:xfrm>
            <a:off x="8101440" y="169164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1" name="椭圆"/>
          <p:cNvSpPr/>
          <p:nvPr/>
        </p:nvSpPr>
        <p:spPr>
          <a:xfrm>
            <a:off x="8357760" y="1947600"/>
            <a:ext cx="502560" cy="502560"/>
          </a:xfrm>
          <a:prstGeom prst="ellipse">
            <a:avLst/>
          </a:prstGeom>
          <a:solidFill>
            <a:srgbClr val="f0684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2" name="矩形"/>
          <p:cNvSpPr/>
          <p:nvPr/>
        </p:nvSpPr>
        <p:spPr>
          <a:xfrm>
            <a:off x="8357760" y="194760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3" name="矩形"/>
          <p:cNvSpPr/>
          <p:nvPr/>
        </p:nvSpPr>
        <p:spPr>
          <a:xfrm>
            <a:off x="8357760" y="260604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Matplotlib &amp; Seaborn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4" name="矩形"/>
          <p:cNvSpPr/>
          <p:nvPr/>
        </p:nvSpPr>
        <p:spPr>
          <a:xfrm>
            <a:off x="8357760" y="301752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Static visualization — charts &amp; heatmaps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5" name="圆角矩形"/>
          <p:cNvSpPr/>
          <p:nvPr/>
        </p:nvSpPr>
        <p:spPr>
          <a:xfrm>
            <a:off x="548640" y="400500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6" name="椭圆"/>
          <p:cNvSpPr/>
          <p:nvPr/>
        </p:nvSpPr>
        <p:spPr>
          <a:xfrm>
            <a:off x="804600" y="4260960"/>
            <a:ext cx="502560" cy="502560"/>
          </a:xfrm>
          <a:prstGeom prst="ellipse">
            <a:avLst/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7" name="矩形"/>
          <p:cNvSpPr/>
          <p:nvPr/>
        </p:nvSpPr>
        <p:spPr>
          <a:xfrm>
            <a:off x="804600" y="426096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4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8" name="矩形"/>
          <p:cNvSpPr/>
          <p:nvPr/>
        </p:nvSpPr>
        <p:spPr>
          <a:xfrm>
            <a:off x="804600" y="491940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Scikit-learn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9" name="矩形"/>
          <p:cNvSpPr/>
          <p:nvPr/>
        </p:nvSpPr>
        <p:spPr>
          <a:xfrm>
            <a:off x="804600" y="533088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89640" rIns="8964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Building &amp; evaluating the decision tree model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0" name="圆角矩形"/>
          <p:cNvSpPr/>
          <p:nvPr/>
        </p:nvSpPr>
        <p:spPr>
          <a:xfrm>
            <a:off x="4325040" y="400500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1" name="椭圆"/>
          <p:cNvSpPr/>
          <p:nvPr/>
        </p:nvSpPr>
        <p:spPr>
          <a:xfrm>
            <a:off x="4581000" y="4260960"/>
            <a:ext cx="502560" cy="502560"/>
          </a:xfrm>
          <a:prstGeom prst="ellipse">
            <a:avLst/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2" name="矩形"/>
          <p:cNvSpPr/>
          <p:nvPr/>
        </p:nvSpPr>
        <p:spPr>
          <a:xfrm>
            <a:off x="4581000" y="426096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3" name="矩形"/>
          <p:cNvSpPr/>
          <p:nvPr/>
        </p:nvSpPr>
        <p:spPr>
          <a:xfrm>
            <a:off x="4581000" y="491940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Jupyter / Google Colab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4" name="矩形"/>
          <p:cNvSpPr/>
          <p:nvPr/>
        </p:nvSpPr>
        <p:spPr>
          <a:xfrm>
            <a:off x="4581000" y="533088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Interactive development environment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5" name="圆角矩形"/>
          <p:cNvSpPr/>
          <p:nvPr/>
        </p:nvSpPr>
        <p:spPr>
          <a:xfrm>
            <a:off x="8101440" y="4005000"/>
            <a:ext cx="3611520" cy="2148480"/>
          </a:xfrm>
          <a:prstGeom prst="roundRect">
            <a:avLst>
              <a:gd name="adj" fmla="val 340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6" name="椭圆"/>
          <p:cNvSpPr/>
          <p:nvPr/>
        </p:nvSpPr>
        <p:spPr>
          <a:xfrm>
            <a:off x="8357760" y="4260960"/>
            <a:ext cx="502560" cy="502560"/>
          </a:xfrm>
          <a:prstGeom prst="ellipse">
            <a:avLst/>
          </a:prstGeom>
          <a:solidFill>
            <a:srgbClr val="f0684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7" name="矩形"/>
          <p:cNvSpPr/>
          <p:nvPr/>
        </p:nvSpPr>
        <p:spPr>
          <a:xfrm>
            <a:off x="8357760" y="4260960"/>
            <a:ext cx="50256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6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8" name="矩形"/>
          <p:cNvSpPr/>
          <p:nvPr/>
        </p:nvSpPr>
        <p:spPr>
          <a:xfrm>
            <a:off x="8357760" y="4919400"/>
            <a:ext cx="309960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Kaggle &amp; UCI Repository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9" name="矩形"/>
          <p:cNvSpPr/>
          <p:nvPr/>
        </p:nvSpPr>
        <p:spPr>
          <a:xfrm>
            <a:off x="8357760" y="5330880"/>
            <a:ext cx="309960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Public real-world dataset sources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0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2" name="矩形"/>
          <p:cNvSpPr/>
          <p:nvPr/>
        </p:nvSpPr>
        <p:spPr>
          <a:xfrm>
            <a:off x="548640" y="255960"/>
            <a:ext cx="2742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TASK 01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3" name="矩形"/>
          <p:cNvSpPr/>
          <p:nvPr/>
        </p:nvSpPr>
        <p:spPr>
          <a:xfrm>
            <a:off x="548640" y="548640"/>
            <a:ext cx="91436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Population Distribution Visualization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4" name="矩形"/>
          <p:cNvSpPr/>
          <p:nvPr/>
        </p:nvSpPr>
        <p:spPr>
          <a:xfrm>
            <a:off x="548640" y="1508760"/>
            <a:ext cx="5486040" cy="1005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Objective: Create a bar chart / histogram to visualize the distribution of a categorical or continuous variable — such as the age-wise distribution of a population.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5" name="矩形"/>
          <p:cNvSpPr/>
          <p:nvPr/>
        </p:nvSpPr>
        <p:spPr>
          <a:xfrm>
            <a:off x="548640" y="2606040"/>
            <a:ext cx="54860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APPROACH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6" name="矩形"/>
          <p:cNvSpPr/>
          <p:nvPr/>
        </p:nvSpPr>
        <p:spPr>
          <a:xfrm>
            <a:off x="548640" y="2926080"/>
            <a:ext cx="54860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Loaded age-wise population data using Pandas.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7" name="矩形"/>
          <p:cNvSpPr/>
          <p:nvPr/>
        </p:nvSpPr>
        <p:spPr>
          <a:xfrm>
            <a:off x="548640" y="3429000"/>
            <a:ext cx="54860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Built a labelled bar chart using Matplotlib/Seaborn across three age bands.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8" name="矩形"/>
          <p:cNvSpPr/>
          <p:nvPr/>
        </p:nvSpPr>
        <p:spPr>
          <a:xfrm>
            <a:off x="548640" y="3931920"/>
            <a:ext cx="5486040" cy="41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Interpreted the chart to highlight the working-age majority.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9" name="圆角矩形"/>
          <p:cNvSpPr/>
          <p:nvPr/>
        </p:nvSpPr>
        <p:spPr>
          <a:xfrm>
            <a:off x="548640" y="4663440"/>
            <a:ext cx="5486040" cy="1416960"/>
          </a:xfrm>
          <a:prstGeom prst="roundRect">
            <a:avLst>
              <a:gd name="adj" fmla="val 5162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0" name="矩形"/>
          <p:cNvSpPr/>
          <p:nvPr/>
        </p:nvSpPr>
        <p:spPr>
          <a:xfrm>
            <a:off x="822960" y="4827960"/>
            <a:ext cx="493740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f4b740"/>
                </a:solidFill>
                <a:uFillTx/>
                <a:latin typeface="Calibri"/>
                <a:ea typeface="Calibri"/>
              </a:rPr>
              <a:t>KEY INSIGHT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1" name="矩形"/>
          <p:cNvSpPr/>
          <p:nvPr/>
        </p:nvSpPr>
        <p:spPr>
          <a:xfrm>
            <a:off x="822960" y="5120640"/>
            <a:ext cx="4937400" cy="91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57% of the population falls in the 21–64 working-age band, versus 36% under 20 and 7% above 65 — a demographic skew with major implications for workforce and policy planning.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2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6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4" name="矩形"/>
          <p:cNvSpPr/>
          <p:nvPr/>
        </p:nvSpPr>
        <p:spPr>
          <a:xfrm>
            <a:off x="548640" y="255960"/>
            <a:ext cx="2742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TASK 02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5" name="矩形"/>
          <p:cNvSpPr/>
          <p:nvPr/>
        </p:nvSpPr>
        <p:spPr>
          <a:xfrm>
            <a:off x="548640" y="548640"/>
            <a:ext cx="100580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Titanic Dataset — Cleaning &amp; Exploratory Data Analysis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6" name="矩形"/>
          <p:cNvSpPr/>
          <p:nvPr/>
        </p:nvSpPr>
        <p:spPr>
          <a:xfrm>
            <a:off x="548640" y="1508760"/>
            <a:ext cx="5486040" cy="1005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Objective: Perform data cleaning and EDA on the Titanic dataset (Kaggle) to explore relationships between variables and identify patterns in passenger survival.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7" name="矩形"/>
          <p:cNvSpPr/>
          <p:nvPr/>
        </p:nvSpPr>
        <p:spPr>
          <a:xfrm>
            <a:off x="548640" y="2560320"/>
            <a:ext cx="54860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APPROACH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8" name="矩形"/>
          <p:cNvSpPr/>
          <p:nvPr/>
        </p:nvSpPr>
        <p:spPr>
          <a:xfrm>
            <a:off x="548640" y="288036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Identified and handled missing values in Age, Cabin, Embarked.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79" name="矩形"/>
          <p:cNvSpPr/>
          <p:nvPr/>
        </p:nvSpPr>
        <p:spPr>
          <a:xfrm>
            <a:off x="548640" y="338328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Generated summary statistics for key variables.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0" name="矩形"/>
          <p:cNvSpPr/>
          <p:nvPr/>
        </p:nvSpPr>
        <p:spPr>
          <a:xfrm>
            <a:off x="548640" y="388620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Explored survival vs. sex, class &amp; age using count plots and a correlation heatmap.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1" name="圆角矩形"/>
          <p:cNvSpPr/>
          <p:nvPr/>
        </p:nvSpPr>
        <p:spPr>
          <a:xfrm>
            <a:off x="548640" y="4663440"/>
            <a:ext cx="5486040" cy="1416960"/>
          </a:xfrm>
          <a:prstGeom prst="roundRect">
            <a:avLst>
              <a:gd name="adj" fmla="val 5162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2" name="矩形"/>
          <p:cNvSpPr/>
          <p:nvPr/>
        </p:nvSpPr>
        <p:spPr>
          <a:xfrm>
            <a:off x="822960" y="4827960"/>
            <a:ext cx="493740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f4b740"/>
                </a:solidFill>
                <a:uFillTx/>
                <a:latin typeface="Calibri"/>
                <a:ea typeface="Calibri"/>
              </a:rPr>
              <a:t>KEY INSIGHT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3" name="矩形"/>
          <p:cNvSpPr/>
          <p:nvPr/>
        </p:nvSpPr>
        <p:spPr>
          <a:xfrm>
            <a:off x="822960" y="5120640"/>
            <a:ext cx="4937400" cy="91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Survival was strongly linked to gender and class — female and first-class passengers had markedly higher survival rates, reflecting the era's evacuation priorities.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4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7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矩形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6" name="矩形"/>
          <p:cNvSpPr/>
          <p:nvPr/>
        </p:nvSpPr>
        <p:spPr>
          <a:xfrm>
            <a:off x="548640" y="255960"/>
            <a:ext cx="2742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TASK 03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7" name="矩形"/>
          <p:cNvSpPr/>
          <p:nvPr/>
        </p:nvSpPr>
        <p:spPr>
          <a:xfrm>
            <a:off x="548640" y="548640"/>
            <a:ext cx="100580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Decision Tree Classifier — Bank Marketing Dataset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8" name="矩形"/>
          <p:cNvSpPr/>
          <p:nvPr/>
        </p:nvSpPr>
        <p:spPr>
          <a:xfrm>
            <a:off x="548640" y="1508760"/>
            <a:ext cx="5486040" cy="1188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Objective: Build a decision tree classifier to predict whether a customer will purchase a product/service, based on demographic and behavioural data (UCI Bank Marketing dataset).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9" name="矩形"/>
          <p:cNvSpPr/>
          <p:nvPr/>
        </p:nvSpPr>
        <p:spPr>
          <a:xfrm>
            <a:off x="548640" y="2743200"/>
            <a:ext cx="54860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APPROACH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0" name="矩形"/>
          <p:cNvSpPr/>
          <p:nvPr/>
        </p:nvSpPr>
        <p:spPr>
          <a:xfrm>
            <a:off x="548640" y="306324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Encoded categorical variables; split data into train/test sets.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1" name="矩形"/>
          <p:cNvSpPr/>
          <p:nvPr/>
        </p:nvSpPr>
        <p:spPr>
          <a:xfrm>
            <a:off x="548640" y="356616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Trained a Decision Tree Classifier using Scikit-learn.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2" name="矩形"/>
          <p:cNvSpPr/>
          <p:nvPr/>
        </p:nvSpPr>
        <p:spPr>
          <a:xfrm>
            <a:off x="548640" y="406908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Evaluated with accuracy, confusion matrix &amp; precision/recall.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3" name="圆角矩形"/>
          <p:cNvSpPr/>
          <p:nvPr/>
        </p:nvSpPr>
        <p:spPr>
          <a:xfrm>
            <a:off x="548640" y="4892040"/>
            <a:ext cx="5486040" cy="1234080"/>
          </a:xfrm>
          <a:prstGeom prst="roundRect">
            <a:avLst>
              <a:gd name="adj" fmla="val 5925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4" name="矩形"/>
          <p:cNvSpPr/>
          <p:nvPr/>
        </p:nvSpPr>
        <p:spPr>
          <a:xfrm>
            <a:off x="822960" y="5029200"/>
            <a:ext cx="493740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f4b740"/>
                </a:solidFill>
                <a:uFillTx/>
                <a:latin typeface="Calibri"/>
                <a:ea typeface="Calibri"/>
              </a:rPr>
              <a:t>KEY INSIGHT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5" name="矩形"/>
          <p:cNvSpPr/>
          <p:nvPr/>
        </p:nvSpPr>
        <p:spPr>
          <a:xfrm>
            <a:off x="822960" y="5303520"/>
            <a:ext cx="4937400" cy="731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Call duration and prior campaign outcome emerged as the most influential features in predicting purchase decisions.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6" name="矩形"/>
          <p:cNvSpPr/>
          <p:nvPr/>
        </p:nvSpPr>
        <p:spPr>
          <a:xfrm>
            <a:off x="6492240" y="1691640"/>
            <a:ext cx="521172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MODEL STRUCTURE (ILLUSTRATIVE)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7" name="圆角矩形"/>
          <p:cNvSpPr/>
          <p:nvPr/>
        </p:nvSpPr>
        <p:spPr>
          <a:xfrm>
            <a:off x="7543800" y="2148840"/>
            <a:ext cx="3108600" cy="548280"/>
          </a:xfrm>
          <a:prstGeom prst="roundRect">
            <a:avLst>
              <a:gd name="adj" fmla="val 10000"/>
            </a:avLst>
          </a:prstGeom>
          <a:solidFill>
            <a:srgbClr val="10214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8" name="矩形"/>
          <p:cNvSpPr/>
          <p:nvPr/>
        </p:nvSpPr>
        <p:spPr>
          <a:xfrm>
            <a:off x="7543800" y="2148840"/>
            <a:ext cx="310860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Call Duration &gt; 5 minutes?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9" name="直线"/>
          <p:cNvSpPr/>
          <p:nvPr/>
        </p:nvSpPr>
        <p:spPr>
          <a:xfrm>
            <a:off x="7058880" y="2697480"/>
            <a:ext cx="1417320" cy="5029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0" name="直线"/>
          <p:cNvSpPr/>
          <p:nvPr/>
        </p:nvSpPr>
        <p:spPr>
          <a:xfrm>
            <a:off x="9720000" y="2697480"/>
            <a:ext cx="1417320" cy="5029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1" name="矩形"/>
          <p:cNvSpPr/>
          <p:nvPr/>
        </p:nvSpPr>
        <p:spPr>
          <a:xfrm>
            <a:off x="6126480" y="2743200"/>
            <a:ext cx="5482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Yes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2" name="矩形"/>
          <p:cNvSpPr/>
          <p:nvPr/>
        </p:nvSpPr>
        <p:spPr>
          <a:xfrm>
            <a:off x="11521440" y="2743200"/>
            <a:ext cx="5482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No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3" name="圆角矩形"/>
          <p:cNvSpPr/>
          <p:nvPr/>
        </p:nvSpPr>
        <p:spPr>
          <a:xfrm>
            <a:off x="6629400" y="3246120"/>
            <a:ext cx="2285640" cy="548280"/>
          </a:xfrm>
          <a:prstGeom prst="roundRect">
            <a:avLst>
              <a:gd name="adj" fmla="val 10000"/>
            </a:avLst>
          </a:prstGeom>
          <a:solidFill>
            <a:srgbClr val="1b3a73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4" name="矩形"/>
          <p:cNvSpPr/>
          <p:nvPr/>
        </p:nvSpPr>
        <p:spPr>
          <a:xfrm>
            <a:off x="6629400" y="3246120"/>
            <a:ext cx="22856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Prior Outcome = Success?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5" name="圆角矩形"/>
          <p:cNvSpPr/>
          <p:nvPr/>
        </p:nvSpPr>
        <p:spPr>
          <a:xfrm>
            <a:off x="9464040" y="3246120"/>
            <a:ext cx="2285640" cy="548280"/>
          </a:xfrm>
          <a:prstGeom prst="roundRect">
            <a:avLst>
              <a:gd name="adj" fmla="val 10000"/>
            </a:avLst>
          </a:prstGeom>
          <a:solidFill>
            <a:srgbClr val="1b3a73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6" name="矩形"/>
          <p:cNvSpPr/>
          <p:nvPr/>
        </p:nvSpPr>
        <p:spPr>
          <a:xfrm>
            <a:off x="9464040" y="3246120"/>
            <a:ext cx="22856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Age Under 30?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7" name="直线"/>
          <p:cNvSpPr/>
          <p:nvPr/>
        </p:nvSpPr>
        <p:spPr>
          <a:xfrm>
            <a:off x="6537960" y="3794760"/>
            <a:ext cx="685800" cy="4111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8" name="直线"/>
          <p:cNvSpPr/>
          <p:nvPr/>
        </p:nvSpPr>
        <p:spPr>
          <a:xfrm>
            <a:off x="7680960" y="3794760"/>
            <a:ext cx="502560" cy="4111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9" name="直线"/>
          <p:cNvSpPr/>
          <p:nvPr/>
        </p:nvSpPr>
        <p:spPr>
          <a:xfrm>
            <a:off x="9555480" y="3794760"/>
            <a:ext cx="502920" cy="4111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0" name="直线"/>
          <p:cNvSpPr/>
          <p:nvPr/>
        </p:nvSpPr>
        <p:spPr>
          <a:xfrm>
            <a:off x="10515600" y="3794760"/>
            <a:ext cx="685800" cy="411120"/>
          </a:xfrm>
          <a:prstGeom prst="line">
            <a:avLst/>
          </a:prstGeom>
          <a:ln w="19050">
            <a:solidFill>
              <a:srgbClr val="5159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1" name="圆角矩形"/>
          <p:cNvSpPr/>
          <p:nvPr/>
        </p:nvSpPr>
        <p:spPr>
          <a:xfrm>
            <a:off x="6080760" y="4297680"/>
            <a:ext cx="1325520" cy="548280"/>
          </a:xfrm>
          <a:prstGeom prst="roundRect">
            <a:avLst>
              <a:gd name="adj" fmla="val 10000"/>
            </a:avLst>
          </a:prstGeom>
          <a:solidFill>
            <a:srgbClr val="1fb8a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2" name="矩形"/>
          <p:cNvSpPr/>
          <p:nvPr/>
        </p:nvSpPr>
        <p:spPr>
          <a:xfrm>
            <a:off x="6080760" y="4297680"/>
            <a:ext cx="132552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Purchase: Yes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3" name="圆角矩形"/>
          <p:cNvSpPr/>
          <p:nvPr/>
        </p:nvSpPr>
        <p:spPr>
          <a:xfrm>
            <a:off x="7680960" y="4297680"/>
            <a:ext cx="1325520" cy="548280"/>
          </a:xfrm>
          <a:prstGeom prst="roundRect">
            <a:avLst>
              <a:gd name="adj" fmla="val 10000"/>
            </a:avLst>
          </a:prstGeom>
          <a:solidFill>
            <a:srgbClr val="f0684e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4" name="矩形"/>
          <p:cNvSpPr/>
          <p:nvPr/>
        </p:nvSpPr>
        <p:spPr>
          <a:xfrm>
            <a:off x="7680960" y="4297680"/>
            <a:ext cx="132552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Purchase: No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5" name="圆角矩形"/>
          <p:cNvSpPr/>
          <p:nvPr/>
        </p:nvSpPr>
        <p:spPr>
          <a:xfrm>
            <a:off x="9098280" y="4297680"/>
            <a:ext cx="1325520" cy="548280"/>
          </a:xfrm>
          <a:prstGeom prst="roundRect">
            <a:avLst>
              <a:gd name="adj" fmla="val 10000"/>
            </a:avLst>
          </a:prstGeom>
          <a:solidFill>
            <a:srgbClr val="1fb8a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6" name="矩形"/>
          <p:cNvSpPr/>
          <p:nvPr/>
        </p:nvSpPr>
        <p:spPr>
          <a:xfrm>
            <a:off x="9098280" y="4297680"/>
            <a:ext cx="132552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Purchase: Yes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7" name="圆角矩形"/>
          <p:cNvSpPr/>
          <p:nvPr/>
        </p:nvSpPr>
        <p:spPr>
          <a:xfrm>
            <a:off x="10698480" y="4297680"/>
            <a:ext cx="1325520" cy="548280"/>
          </a:xfrm>
          <a:prstGeom prst="roundRect">
            <a:avLst>
              <a:gd name="adj" fmla="val 10000"/>
            </a:avLst>
          </a:prstGeom>
          <a:solidFill>
            <a:srgbClr val="f0684e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8" name="矩形"/>
          <p:cNvSpPr/>
          <p:nvPr/>
        </p:nvSpPr>
        <p:spPr>
          <a:xfrm>
            <a:off x="10698480" y="4297680"/>
            <a:ext cx="132552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Purchase: No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9" name="圆角矩形"/>
          <p:cNvSpPr/>
          <p:nvPr/>
        </p:nvSpPr>
        <p:spPr>
          <a:xfrm>
            <a:off x="6492240" y="4937760"/>
            <a:ext cx="5120280" cy="1188360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noFill/>
          </a:ln>
          <a:effectLst>
            <a:outerShdw algn="bl" blurRad="101520" dir="5400000" dist="38160" rotWithShape="0" sx="100000" sy="100000">
              <a:srgbClr val="1a1f36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0" name="矩形"/>
          <p:cNvSpPr/>
          <p:nvPr/>
        </p:nvSpPr>
        <p:spPr>
          <a:xfrm>
            <a:off x="6720840" y="5074920"/>
            <a:ext cx="466308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MODEL EVALUATION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1" name="矩形"/>
          <p:cNvSpPr/>
          <p:nvPr/>
        </p:nvSpPr>
        <p:spPr>
          <a:xfrm>
            <a:off x="6720840" y="5349240"/>
            <a:ext cx="4663080" cy="685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Evaluated using Accuracy, Confusion Matrix, and Precision / Recall to validate the classifier's predictive reliability on held-out test data.</a:t>
            </a:r>
            <a:endParaRPr b="0" lang="en-US" sz="11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2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8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4" name="矩形"/>
          <p:cNvSpPr/>
          <p:nvPr/>
        </p:nvSpPr>
        <p:spPr>
          <a:xfrm>
            <a:off x="548640" y="255960"/>
            <a:ext cx="2742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TASK 04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5" name="矩形"/>
          <p:cNvSpPr/>
          <p:nvPr/>
        </p:nvSpPr>
        <p:spPr>
          <a:xfrm>
            <a:off x="548640" y="548640"/>
            <a:ext cx="91436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Traffic Accident Data Analysis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6" name="矩形"/>
          <p:cNvSpPr/>
          <p:nvPr/>
        </p:nvSpPr>
        <p:spPr>
          <a:xfrm>
            <a:off x="548640" y="1508760"/>
            <a:ext cx="5486040" cy="1188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Objective: Analyze traffic accident data to identify patterns related to road conditions, weather and time of day, and visualize accident hotspots and contributing factors.</a:t>
            </a:r>
            <a:endParaRPr b="0" lang="en-US" sz="13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7" name="矩形"/>
          <p:cNvSpPr/>
          <p:nvPr/>
        </p:nvSpPr>
        <p:spPr>
          <a:xfrm>
            <a:off x="548640" y="2743200"/>
            <a:ext cx="54860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APPROACH</a:t>
            </a: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8" name="矩形"/>
          <p:cNvSpPr/>
          <p:nvPr/>
        </p:nvSpPr>
        <p:spPr>
          <a:xfrm>
            <a:off x="548640" y="306324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Explored accident frequency across weather and time-of-day.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9" name="矩形"/>
          <p:cNvSpPr/>
          <p:nvPr/>
        </p:nvSpPr>
        <p:spPr>
          <a:xfrm>
            <a:off x="548640" y="356616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Visualized hotspots and contributing factors with bar charts and heatmaps.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0" name="矩形"/>
          <p:cNvSpPr/>
          <p:nvPr/>
        </p:nvSpPr>
        <p:spPr>
          <a:xfrm>
            <a:off x="548640" y="4069080"/>
            <a:ext cx="54860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200" strike="noStrike" u="none">
                <a:solidFill>
                  <a:srgbClr val="1a1f36"/>
                </a:solidFill>
                <a:uFillTx/>
                <a:latin typeface="Calibri"/>
                <a:ea typeface="Calibri"/>
              </a:rPr>
              <a:t>Summarized findings into road-safety-relevant insights.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1" name="圆角矩形"/>
          <p:cNvSpPr/>
          <p:nvPr/>
        </p:nvSpPr>
        <p:spPr>
          <a:xfrm>
            <a:off x="548640" y="4663440"/>
            <a:ext cx="5486040" cy="1416960"/>
          </a:xfrm>
          <a:prstGeom prst="roundRect">
            <a:avLst>
              <a:gd name="adj" fmla="val 5162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2" name="矩形"/>
          <p:cNvSpPr/>
          <p:nvPr/>
        </p:nvSpPr>
        <p:spPr>
          <a:xfrm>
            <a:off x="822960" y="4827960"/>
            <a:ext cx="493740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f4b740"/>
                </a:solidFill>
                <a:uFillTx/>
                <a:latin typeface="Calibri"/>
                <a:ea typeface="Calibri"/>
              </a:rPr>
              <a:t>KEY INSIGHT</a:t>
            </a:r>
            <a:endParaRPr b="0" lang="en-US" sz="10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3" name="矩形"/>
          <p:cNvSpPr/>
          <p:nvPr/>
        </p:nvSpPr>
        <p:spPr>
          <a:xfrm>
            <a:off x="822960" y="5120640"/>
            <a:ext cx="4937400" cy="91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Accident frequency peaked during evening rush hours and under wet/low-visibility weather — pointing to targeted enforcement and signage during these windows.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4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9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矩形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TAKEAWAYS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6" name="矩形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Key Learnings &amp; Skills Gained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7" name="圆角矩形"/>
          <p:cNvSpPr/>
          <p:nvPr/>
        </p:nvSpPr>
        <p:spPr>
          <a:xfrm>
            <a:off x="548640" y="1691640"/>
            <a:ext cx="5394600" cy="1965600"/>
          </a:xfrm>
          <a:prstGeom prst="roundRect">
            <a:avLst>
              <a:gd name="adj" fmla="val 372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8" name="圆角矩形"/>
          <p:cNvSpPr/>
          <p:nvPr/>
        </p:nvSpPr>
        <p:spPr>
          <a:xfrm>
            <a:off x="804600" y="1947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1fb8a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9" name="矩形"/>
          <p:cNvSpPr/>
          <p:nvPr/>
        </p:nvSpPr>
        <p:spPr>
          <a:xfrm>
            <a:off x="804600" y="1947600"/>
            <a:ext cx="456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1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0" name="矩形"/>
          <p:cNvSpPr/>
          <p:nvPr/>
        </p:nvSpPr>
        <p:spPr>
          <a:xfrm>
            <a:off x="804600" y="2560320"/>
            <a:ext cx="488268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Technical Proficiency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1" name="矩形"/>
          <p:cNvSpPr/>
          <p:nvPr/>
        </p:nvSpPr>
        <p:spPr>
          <a:xfrm>
            <a:off x="804600" y="2926080"/>
            <a:ext cx="48826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Hands-on fluency in Python, Pandas, NumPy, Matplotlib, Seaborn and Scikit-learn for real analytical work.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2" name="圆角矩形"/>
          <p:cNvSpPr/>
          <p:nvPr/>
        </p:nvSpPr>
        <p:spPr>
          <a:xfrm>
            <a:off x="6217920" y="1691640"/>
            <a:ext cx="5394600" cy="1965600"/>
          </a:xfrm>
          <a:prstGeom prst="roundRect">
            <a:avLst>
              <a:gd name="adj" fmla="val 372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3" name="圆角矩形"/>
          <p:cNvSpPr/>
          <p:nvPr/>
        </p:nvSpPr>
        <p:spPr>
          <a:xfrm>
            <a:off x="6473880" y="1947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4b7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4" name="矩形"/>
          <p:cNvSpPr/>
          <p:nvPr/>
        </p:nvSpPr>
        <p:spPr>
          <a:xfrm>
            <a:off x="6473880" y="1947600"/>
            <a:ext cx="456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2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5" name="矩形"/>
          <p:cNvSpPr/>
          <p:nvPr/>
        </p:nvSpPr>
        <p:spPr>
          <a:xfrm>
            <a:off x="6473880" y="2560320"/>
            <a:ext cx="488268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End-to-End Workflow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6" name="矩形"/>
          <p:cNvSpPr/>
          <p:nvPr/>
        </p:nvSpPr>
        <p:spPr>
          <a:xfrm>
            <a:off x="6473880" y="2926080"/>
            <a:ext cx="48826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Practical experience across the full data science lifecycle — from raw data to actionable insight.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7" name="圆角矩形"/>
          <p:cNvSpPr/>
          <p:nvPr/>
        </p:nvSpPr>
        <p:spPr>
          <a:xfrm>
            <a:off x="548640" y="3886200"/>
            <a:ext cx="5394600" cy="1965600"/>
          </a:xfrm>
          <a:prstGeom prst="roundRect">
            <a:avLst>
              <a:gd name="adj" fmla="val 372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8" name="圆角矩形"/>
          <p:cNvSpPr/>
          <p:nvPr/>
        </p:nvSpPr>
        <p:spPr>
          <a:xfrm>
            <a:off x="804600" y="414216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0684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9" name="矩形"/>
          <p:cNvSpPr/>
          <p:nvPr/>
        </p:nvSpPr>
        <p:spPr>
          <a:xfrm>
            <a:off x="804600" y="4142160"/>
            <a:ext cx="456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3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0" name="矩形"/>
          <p:cNvSpPr/>
          <p:nvPr/>
        </p:nvSpPr>
        <p:spPr>
          <a:xfrm>
            <a:off x="804600" y="4754880"/>
            <a:ext cx="488268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Analytical Thinking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1" name="矩形"/>
          <p:cNvSpPr/>
          <p:nvPr/>
        </p:nvSpPr>
        <p:spPr>
          <a:xfrm>
            <a:off x="804600" y="5120640"/>
            <a:ext cx="48826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Sharper ability to frame problems, question data quality, and validate findings critically.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2" name="圆角矩形"/>
          <p:cNvSpPr/>
          <p:nvPr/>
        </p:nvSpPr>
        <p:spPr>
          <a:xfrm>
            <a:off x="6217920" y="3886200"/>
            <a:ext cx="5394600" cy="1965600"/>
          </a:xfrm>
          <a:prstGeom prst="roundRect">
            <a:avLst>
              <a:gd name="adj" fmla="val 3722"/>
            </a:avLst>
          </a:prstGeom>
          <a:solidFill>
            <a:srgbClr val="f5f7f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3" name="圆角矩形"/>
          <p:cNvSpPr/>
          <p:nvPr/>
        </p:nvSpPr>
        <p:spPr>
          <a:xfrm>
            <a:off x="6473880" y="414216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10214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4" name="矩形"/>
          <p:cNvSpPr/>
          <p:nvPr/>
        </p:nvSpPr>
        <p:spPr>
          <a:xfrm>
            <a:off x="6473880" y="4142160"/>
            <a:ext cx="4568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4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5" name="矩形"/>
          <p:cNvSpPr/>
          <p:nvPr/>
        </p:nvSpPr>
        <p:spPr>
          <a:xfrm>
            <a:off x="6473880" y="4754880"/>
            <a:ext cx="488268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214b"/>
                </a:solidFill>
                <a:uFillTx/>
                <a:latin typeface="Cambria"/>
                <a:ea typeface="Cambria"/>
              </a:rPr>
              <a:t>Communicating Insights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6" name="矩形"/>
          <p:cNvSpPr/>
          <p:nvPr/>
        </p:nvSpPr>
        <p:spPr>
          <a:xfrm>
            <a:off x="6473880" y="5120640"/>
            <a:ext cx="4882680" cy="63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Learned to translate technical results into clear, decision-relevant visual insights.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7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10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矩形"/>
          <p:cNvSpPr/>
          <p:nvPr/>
        </p:nvSpPr>
        <p:spPr>
          <a:xfrm>
            <a:off x="548640" y="502920"/>
            <a:ext cx="5486040" cy="319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PROOF OF COMPLETION</a:t>
            </a:r>
            <a:endParaRPr b="0" lang="en-US" sz="12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9" name="矩形"/>
          <p:cNvSpPr/>
          <p:nvPr/>
        </p:nvSpPr>
        <p:spPr>
          <a:xfrm>
            <a:off x="548640" y="804600"/>
            <a:ext cx="8229240" cy="548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Internship Completion Certificate</a:t>
            </a:r>
            <a:endParaRPr b="0" lang="en-US" sz="26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0" name="圆角矩形"/>
          <p:cNvSpPr/>
          <p:nvPr/>
        </p:nvSpPr>
        <p:spPr>
          <a:xfrm>
            <a:off x="2651760" y="1600200"/>
            <a:ext cx="6857640" cy="4845960"/>
          </a:xfrm>
          <a:prstGeom prst="roundRect">
            <a:avLst>
              <a:gd name="adj" fmla="val 944"/>
            </a:avLst>
          </a:prstGeom>
          <a:solidFill>
            <a:srgbClr val="ffffff"/>
          </a:solidFill>
          <a:ln w="12700">
            <a:noFill/>
          </a:ln>
          <a:effectLst>
            <a:outerShdw algn="bl" blurRad="177840" dir="5400000" dist="5076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261" name="图片" descr="/home/claude/certificate.png"/>
          <p:cNvPicPr/>
          <p:nvPr/>
        </p:nvPicPr>
        <p:blipFill>
          <a:blip r:embed="rId1"/>
          <a:stretch/>
        </p:blipFill>
        <p:spPr>
          <a:xfrm>
            <a:off x="2788920" y="1737360"/>
            <a:ext cx="6583320" cy="46540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62" name="矩形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1597a"/>
                </a:solidFill>
                <a:uFillTx/>
                <a:latin typeface="Calibri"/>
                <a:ea typeface="Calibri"/>
              </a:rPr>
              <a:t>11</a:t>
            </a:r>
            <a:endParaRPr b="0" lang="en-US" sz="10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椭圆"/>
          <p:cNvSpPr/>
          <p:nvPr/>
        </p:nvSpPr>
        <p:spPr>
          <a:xfrm>
            <a:off x="-1097280" y="-1371600"/>
            <a:ext cx="3657240" cy="3657240"/>
          </a:xfrm>
          <a:prstGeom prst="ellipse">
            <a:avLst/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4" name="椭圆"/>
          <p:cNvSpPr/>
          <p:nvPr/>
        </p:nvSpPr>
        <p:spPr>
          <a:xfrm>
            <a:off x="9601200" y="4114800"/>
            <a:ext cx="4114440" cy="4114440"/>
          </a:xfrm>
          <a:prstGeom prst="ellipse">
            <a:avLst/>
          </a:prstGeom>
          <a:solidFill>
            <a:srgbClr val="1b3a7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0" y="2423160"/>
            <a:ext cx="12188520" cy="1005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Thank You</a:t>
            </a:r>
            <a:endParaRPr b="0" lang="en-US" sz="46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0" y="3429000"/>
            <a:ext cx="1218852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1fb8a6"/>
                </a:solidFill>
                <a:uFillTx/>
                <a:latin typeface="Calibri"/>
                <a:ea typeface="Calibri"/>
              </a:rPr>
              <a:t>Questions &amp; Discussion</a:t>
            </a:r>
            <a:endParaRPr b="0" lang="en-US" sz="16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67" name="矩形"/>
          <p:cNvSpPr/>
          <p:nvPr/>
        </p:nvSpPr>
        <p:spPr>
          <a:xfrm>
            <a:off x="0" y="5943600"/>
            <a:ext cx="12188520" cy="36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eb8d6"/>
                </a:solidFill>
                <a:uFillTx/>
                <a:latin typeface="Calibri"/>
                <a:ea typeface="Calibri"/>
              </a:rPr>
              <a:t>Raj Vardhan   |   B.Tech CSE, IILM University   |   Data Science Intern, SkillCraft Technology</a:t>
            </a:r>
            <a:endParaRPr b="0" lang="en-US" sz="12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>
      <a:fillStyleLst>
        <a:solidFill>
          <a:schemeClr val="phClr"/>
        </a:solidFill>
        <a:gradFill>
          <a:gsLst/>
          <a:tileRect l="0" t="0" r="0" b="0"/>
        </a:gradFill>
        <a:gradFill>
          <a:gsLst/>
          <a:tileRect l="0" t="0" r="0" b="0"/>
        </a:gradFill>
      </a:fillStyleLst>
      <a:lnStyleLst>
        <a:ln w="0"/>
        <a:ln w="0"/>
        <a:ln w="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/>
          <a:tileRect l="0" t="0" r="0" b="0"/>
        </a:gradFill>
        <a:gradFill>
          <a:gsLst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</TotalTime>
  <Application>LibreOfficeDev/24.8.7.2.0$Android_AARCH64 LibreOffice_project/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2026-08-30T10:25:31Z</dcterms:created>
  <dc:creator>PptxGenJS</dc:creator>
  <dc:description/>
  <dc:language>zh-CN</dc:language>
  <cp:lastModifiedBy/>
  <dcterms:modified xsi:type="dcterms:W3CDTF">2026-08-30T16:31:09Z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